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18120" y="868680"/>
            <a:ext cx="3611880" cy="516636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3840480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7F1E7"/>
                </a:solidFill>
                <a:latin typeface="Aptos"/>
              </a:rPr>
              <a:t>MONEY, WITH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2752" y="4261104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B1A9A0"/>
                </a:solidFill>
                <a:latin typeface="Aptos"/>
              </a:rPr>
              <a:t>Rules that keep working
after you press send.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00200"/>
            <a:ext cx="1417320" cy="292608"/>
          </a:xfrm>
          <a:prstGeom prst="roundRect">
            <a:avLst/>
          </a:prstGeom>
          <a:solidFill>
            <a:srgbClr val="27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632204"/>
            <a:ext cx="1307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B1A9A0"/>
                </a:solidFill>
                <a:latin typeface="Aptos"/>
              </a:rPr>
              <a:t>FAMILY MONEY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057400"/>
            <a:ext cx="66294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F7F1E7"/>
                </a:solidFill>
                <a:latin typeface="Georgia"/>
              </a:rPr>
              <a:t>Money that
behaves.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657600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1A9A0"/>
                </a:solidFill>
                <a:latin typeface="Aptos"/>
              </a:rPr>
              <a:t>A mobile-first money app for people who care where money goes — and what it should do next.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983480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C6A4F"/>
                </a:solidFill>
                <a:latin typeface="Aptos"/>
              </a:rPr>
              <a:t>getkin.space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14476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1A9A0"/>
                </a:solidFill>
                <a:latin typeface="Aptos"/>
              </a:rPr>
              <a:t>SOLO FOUNDER  •  HACKATHON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KIN  •  2-MINUTE PITCH</a:t>
            </a:r>
          </a:p>
        </p:txBody>
      </p:sp>
      <p:pic>
        <p:nvPicPr>
          <p:cNvPr id="40" name="Kin logo" descr="Kin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8368"/>
            <a:ext cx="1188720" cy="475488"/>
          </a:xfrm>
          <a:prstGeom prst="rect">
            <a:avLst/>
          </a:prstGeom>
        </p:spPr>
      </p:pic>
      <p:pic>
        <p:nvPicPr>
          <p:cNvPr id="41" name="Kinko" descr="Kinko, the Kin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1143000"/>
            <a:ext cx="24688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6A4F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20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1A9A0"/>
                </a:solidFill>
                <a:latin typeface="Aptos"/>
              </a:rPr>
              <a:t>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3112" cy="0"/>
          </a:xfrm>
          <a:prstGeom prst="line">
            <a:avLst/>
          </a:prstGeom>
          <a:ln w="1016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9144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7F1E7"/>
                </a:solidFill>
                <a:latin typeface="Georgia"/>
              </a:rPr>
              <a:t>Sending money is easy. Trusting what happens next isn’t.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1A9A0"/>
                </a:solidFill>
                <a:latin typeface="Aptos"/>
              </a:rPr>
              <a:t>Families need more than a transfer: they need money to arrive with intent.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657600" cy="32461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63347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EC6A4F"/>
                </a:solidFill>
                <a:latin typeface="Georgia"/>
              </a:rPr>
              <a:t>$129B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2900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7F1E7"/>
                </a:solidFill>
                <a:latin typeface="Aptos"/>
              </a:rPr>
              <a:t>India’s estimated remittance inflows in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31596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1A9A0"/>
                </a:solidFill>
                <a:latin typeface="Aptos"/>
              </a:rPr>
              <a:t>A huge flow of money — often supporting everyday family needs.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166360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B1A9A0"/>
                </a:solidFill>
                <a:latin typeface="Aptos"/>
              </a:rPr>
              <a:t>WORLD BANK • 2024 ESTIMATE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331720"/>
            <a:ext cx="3200400" cy="32461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2651760"/>
            <a:ext cx="2651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900" b="0" i="0">
                <a:solidFill>
                  <a:srgbClr val="EC6A4F"/>
                </a:solidFill>
                <a:latin typeface="Georgia"/>
              </a:rPr>
              <a:t>6.36%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429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7F1E7"/>
                </a:solidFill>
                <a:latin typeface="Aptos"/>
              </a:rPr>
              <a:t>Global average cost to send remittances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42519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1A9A0"/>
                </a:solidFill>
                <a:latin typeface="Aptos"/>
              </a:rPr>
              <a:t>The World Bank’s latest surfaced benchmark: Q3 2025.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5166360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B1A9A0"/>
                </a:solidFill>
                <a:latin typeface="Aptos"/>
              </a:rPr>
              <a:t>WORLD BANK • RPW Q3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331720"/>
            <a:ext cx="3566160" cy="3246120"/>
          </a:xfrm>
          <a:prstGeom prst="roundRect">
            <a:avLst/>
          </a:prstGeom>
          <a:solidFill>
            <a:srgbClr val="763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6791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7F1E7"/>
                </a:solidFill>
                <a:latin typeface="Georgia"/>
              </a:rPr>
              <a:t>The missing layer</a:t>
            </a:r>
          </a:p>
        </p:txBody>
      </p:sp>
      <p:sp>
        <p:nvSpPr>
          <p:cNvPr id="19" name="Oval 18"/>
          <p:cNvSpPr/>
          <p:nvPr/>
        </p:nvSpPr>
        <p:spPr>
          <a:xfrm>
            <a:off x="8321040" y="3429000"/>
            <a:ext cx="155448" cy="155448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3383280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7F1E7"/>
                </a:solidFill>
                <a:latin typeface="Aptos"/>
              </a:rPr>
              <a:t>Money lands — but its purpose can get lost.</a:t>
            </a:r>
          </a:p>
        </p:txBody>
      </p:sp>
      <p:sp>
        <p:nvSpPr>
          <p:cNvPr id="21" name="Oval 20"/>
          <p:cNvSpPr/>
          <p:nvPr/>
        </p:nvSpPr>
        <p:spPr>
          <a:xfrm>
            <a:off x="8321040" y="4023360"/>
            <a:ext cx="155448" cy="155448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3977640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7F1E7"/>
                </a:solidFill>
                <a:latin typeface="Aptos"/>
              </a:rPr>
              <a:t>Parents can’t easily set rules after sending.</a:t>
            </a:r>
          </a:p>
        </p:txBody>
      </p:sp>
      <p:sp>
        <p:nvSpPr>
          <p:cNvPr id="23" name="Oval 22"/>
          <p:cNvSpPr/>
          <p:nvPr/>
        </p:nvSpPr>
        <p:spPr>
          <a:xfrm>
            <a:off x="8321040" y="4617720"/>
            <a:ext cx="155448" cy="155448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3648" y="4572000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7F1E7"/>
                </a:solidFill>
                <a:latin typeface="Aptos"/>
              </a:rPr>
              <a:t>Families stitch together transfers, chats and reminders.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870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Context, not a Kin performance claim: global average cost is still above the UN SDG target of 3%.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SOURCES: WORLD BANK, REMITTANCES AND MIGRATION (2024 ESTIMATE); REMITTANCE PRICES WORLDWIDE, Q3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6A4F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20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1A9A0"/>
                </a:solidFill>
                <a:latin typeface="Aptos"/>
              </a:rPr>
              <a:t>THE IDEA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3112" cy="0"/>
          </a:xfrm>
          <a:prstGeom prst="line">
            <a:avLst/>
          </a:prstGeom>
          <a:ln w="1016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9144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F7F1E7"/>
                </a:solidFill>
                <a:latin typeface="Georgia"/>
              </a:rPr>
              <a:t>Kin turns a payment into a promise.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1A9A0"/>
                </a:solidFill>
                <a:latin typeface="Aptos"/>
              </a:rPr>
              <a:t>Send money with rules attached — and make those rules feel simple.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4114800" cy="315468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2633472"/>
            <a:ext cx="1371600" cy="292608"/>
          </a:xfrm>
          <a:prstGeom prst="roundRect">
            <a:avLst/>
          </a:prstGeom>
          <a:solidFill>
            <a:srgbClr val="27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665476"/>
            <a:ext cx="126187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B1A9A0"/>
                </a:solidFill>
                <a:latin typeface="Aptos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546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B1A9A0"/>
                </a:solidFill>
                <a:latin typeface="Georgia"/>
              </a:rPr>
              <a:t>“Here’s the money.”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" y="3886200"/>
            <a:ext cx="3364992" cy="0"/>
          </a:xfrm>
          <a:prstGeom prst="line">
            <a:avLst/>
          </a:prstGeom>
          <a:ln w="1270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2688" y="416052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1A9A0"/>
                </a:solidFill>
                <a:latin typeface="Aptos"/>
              </a:rPr>
              <a:t>The sender loses visibility once it lands.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331720"/>
            <a:ext cx="6355080" cy="315468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68112" y="2633472"/>
            <a:ext cx="1280160" cy="292608"/>
          </a:xfrm>
          <a:prstGeom prst="roundRect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2976" y="2665476"/>
            <a:ext cx="117043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7F1E7"/>
                </a:solidFill>
                <a:latin typeface="Aptos"/>
              </a:rPr>
              <a:t>WITH KIN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3127248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F7F1E7"/>
                </a:solidFill>
                <a:latin typeface="Georgia"/>
              </a:rPr>
              <a:t>“Here’s what this money is for.”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68112" y="4005072"/>
            <a:ext cx="1664208" cy="960120"/>
          </a:xfrm>
          <a:prstGeom prst="roundRect">
            <a:avLst/>
          </a:prstGeom>
          <a:solidFill>
            <a:srgbClr val="27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96128" y="4160520"/>
            <a:ext cx="146304" cy="146304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6128" y="4370832"/>
            <a:ext cx="1444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7F1E7"/>
                </a:solidFill>
                <a:latin typeface="Aptos"/>
              </a:rPr>
              <a:t>ALLOWANCE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4617720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Release over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0064" y="4005072"/>
            <a:ext cx="1664208" cy="960120"/>
          </a:xfrm>
          <a:prstGeom prst="roundRect">
            <a:avLst/>
          </a:prstGeom>
          <a:solidFill>
            <a:srgbClr val="27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0" y="4160520"/>
            <a:ext cx="146304" cy="146304"/>
          </a:xfrm>
          <a:prstGeom prst="ellipse">
            <a:avLst/>
          </a:prstGeom>
          <a:solidFill>
            <a:srgbClr val="9D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4370832"/>
            <a:ext cx="1444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7F1E7"/>
                </a:solidFill>
                <a:latin typeface="Aptos"/>
              </a:rPr>
              <a:t>FAMILY POT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4617720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Pool for a shared goal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72016" y="4005072"/>
            <a:ext cx="1664208" cy="960120"/>
          </a:xfrm>
          <a:prstGeom prst="roundRect">
            <a:avLst/>
          </a:prstGeom>
          <a:solidFill>
            <a:srgbClr val="27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00032" y="4160520"/>
            <a:ext cx="146304" cy="146304"/>
          </a:xfrm>
          <a:prstGeom prst="ellipse">
            <a:avLst/>
          </a:prstGeom>
          <a:solidFill>
            <a:srgbClr val="C4D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4370832"/>
            <a:ext cx="1444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7F1E7"/>
                </a:solidFill>
                <a:latin typeface="Aptos"/>
              </a:rPr>
              <a:t>SAVINGS CIRCLE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4617720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Save together by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8704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C6A4F"/>
                </a:solidFill>
                <a:latin typeface="Aptos"/>
              </a:rPr>
              <a:t>Positioning: programmable family money — not another generic wallet.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KIN  •  HACKATHON 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6A4F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20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1A9A0"/>
                </a:solidFill>
                <a:latin typeface="Aptos"/>
              </a:rPr>
              <a:t>PRODUCT EXPERIENCE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3112" cy="0"/>
          </a:xfrm>
          <a:prstGeom prst="line">
            <a:avLst/>
          </a:prstGeom>
          <a:ln w="1016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9144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F7F1E7"/>
                </a:solidFill>
                <a:latin typeface="Georgia"/>
              </a:rPr>
              <a:t>Crypto complexity stays backstage.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1A9A0"/>
                </a:solidFill>
                <a:latin typeface="Aptos"/>
              </a:rPr>
              <a:t>A familiar flow: sign in, choose a person, see a clear receipt.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6071616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Real screens from getkin.space: 01 sign up with a passkey · 02 pay @maya · 03 printed receipt, delivered in 0.8s.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KIN  •  HACKATHON BUILD</a:t>
            </a:r>
          </a:p>
        </p:txBody>
      </p:sp>
      <p:pic>
        <p:nvPicPr>
          <p:cNvPr id="50" name="Screen 1" descr="Kin sign-up 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672" y="2103120"/>
            <a:ext cx="1732376" cy="3749040"/>
          </a:xfrm>
          <a:prstGeom prst="roundRect">
            <a:avLst>
              <a:gd name="adj" fmla="val 9000"/>
            </a:avLst>
          </a:prstGeom>
        </p:spPr>
      </p:pic>
      <p:pic>
        <p:nvPicPr>
          <p:cNvPr id="51" name="Screen 2" descr="Pay screen, sending $25 to @ma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832" y="2103120"/>
            <a:ext cx="1732376" cy="3749040"/>
          </a:xfrm>
          <a:prstGeom prst="roundRect">
            <a:avLst>
              <a:gd name="adj" fmla="val 9000"/>
            </a:avLst>
          </a:prstGeom>
        </p:spPr>
      </p:pic>
      <p:pic>
        <p:nvPicPr>
          <p:cNvPr id="52" name="Screen 3" descr="Printed payment receipt, delivered in 0.8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992" y="2103120"/>
            <a:ext cx="1732376" cy="3749040"/>
          </a:xfrm>
          <a:prstGeom prst="roundRect">
            <a:avLst>
              <a:gd name="adj" fmla="val 9000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6A4F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20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1A9A0"/>
                </a:solidFill>
                <a:latin typeface="Aptos"/>
              </a:rPr>
              <a:t>WHAT MONEY CAN 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3112" cy="0"/>
          </a:xfrm>
          <a:prstGeom prst="line">
            <a:avLst/>
          </a:prstGeom>
          <a:ln w="1016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9144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F7F1E7"/>
                </a:solidFill>
                <a:latin typeface="Georgia"/>
              </a:rPr>
              <a:t>A transfer is one moment. A rule can last for months.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1A9A0"/>
                </a:solidFill>
                <a:latin typeface="Aptos"/>
              </a:rPr>
              <a:t>Programmable features are the product’s edge — shown in the testnet build.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246120" cy="14173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7" y="2350008"/>
            <a:ext cx="310896" cy="310896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40487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3131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31720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7F1E7"/>
                </a:solidFill>
                <a:latin typeface="Georgia"/>
              </a:rPr>
              <a:t>Live allowance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807208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Release money on a schedule.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148840"/>
            <a:ext cx="3246120" cy="14173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81728" y="2350008"/>
            <a:ext cx="310896" cy="310896"/>
          </a:xfrm>
          <a:prstGeom prst="ellipse">
            <a:avLst/>
          </a:prstGeom>
          <a:solidFill>
            <a:srgbClr val="9D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40487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31314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2331720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7F1E7"/>
                </a:solidFill>
                <a:latin typeface="Georgia"/>
              </a:rPr>
              <a:t>Emergency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807208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Unlock funds when needed.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148840"/>
            <a:ext cx="3246120" cy="14173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22208" y="2350008"/>
            <a:ext cx="310896" cy="310896"/>
          </a:xfrm>
          <a:prstGeom prst="ellipse">
            <a:avLst/>
          </a:prstGeom>
          <a:solidFill>
            <a:srgbClr val="C4D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240487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31314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2331720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7F1E7"/>
                </a:solidFill>
                <a:latin typeface="Georgia"/>
              </a:rPr>
              <a:t>Savings circle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807208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Contribute toward a shared goal.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77639"/>
            <a:ext cx="3246120" cy="14173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7" y="4178807"/>
            <a:ext cx="310896" cy="310896"/>
          </a:xfrm>
          <a:prstGeom prst="ellipse">
            <a:avLst/>
          </a:prstGeom>
          <a:solidFill>
            <a:srgbClr val="70B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23367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31314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160520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7F1E7"/>
                </a:solidFill>
                <a:latin typeface="Georgia"/>
              </a:rPr>
              <a:t>Family pot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636007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Pool money for a specific purpose.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977639"/>
            <a:ext cx="3246120" cy="14173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81728" y="4178807"/>
            <a:ext cx="310896" cy="310896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423367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31314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4160520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7F1E7"/>
                </a:solidFill>
                <a:latin typeface="Georgia"/>
              </a:rPr>
              <a:t>Earmarked payment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4636007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Keep rent or bills tied to intent.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3977639"/>
            <a:ext cx="3246120" cy="141732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22208" y="4178807"/>
            <a:ext cx="310896" cy="310896"/>
          </a:xfrm>
          <a:prstGeom prst="ellipse">
            <a:avLst/>
          </a:prstGeom>
          <a:solidFill>
            <a:srgbClr val="9D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8" y="423367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31314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408" y="4160520"/>
            <a:ext cx="2331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7F1E7"/>
                </a:solidFill>
                <a:latin typeface="Georgia"/>
              </a:rPr>
              <a:t>Milestone escrow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9408" y="4636007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Release when agreed steps are met.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897880"/>
            <a:ext cx="2148840" cy="292608"/>
          </a:xfrm>
          <a:prstGeom prst="roundRect">
            <a:avLst/>
          </a:prstGeom>
          <a:solidFill>
            <a:srgbClr val="763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929884"/>
            <a:ext cx="20391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7F1E7"/>
                </a:solidFill>
                <a:latin typeface="Aptos"/>
              </a:rPr>
              <a:t>TESTNET / PRACTICE MONEY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5907024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1A9A0"/>
                </a:solidFill>
                <a:latin typeface="Aptos"/>
              </a:rPr>
              <a:t>Other planned or prototype flows include AutoPay, dated gifts and savings jars.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KIN  •  HACKATHON 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6A4F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20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1A9A0"/>
                </a:solidFill>
                <a:latin typeface="Aptos"/>
              </a:rPr>
              <a:t>UNDER THE HOOD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3112" cy="0"/>
          </a:xfrm>
          <a:prstGeom prst="line">
            <a:avLst/>
          </a:prstGeom>
          <a:ln w="1016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9144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F7F1E7"/>
                </a:solidFill>
                <a:latin typeface="Georgia"/>
              </a:rPr>
              <a:t>Invisible rails. Verifiable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1A9A0"/>
                </a:solidFill>
                <a:latin typeface="Aptos"/>
              </a:rPr>
              <a:t>Kin combines account abstraction and smart contracts with a familiar consumer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2240280" cy="91440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514600"/>
            <a:ext cx="164592" cy="164592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459736"/>
            <a:ext cx="1673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KIN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88920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Next.js PWA / Android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331720"/>
            <a:ext cx="2240280" cy="91440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47872" y="2514600"/>
            <a:ext cx="164592" cy="164592"/>
          </a:xfrm>
          <a:prstGeom prst="ellipse">
            <a:avLst/>
          </a:prstGeom>
          <a:solidFill>
            <a:srgbClr val="9D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459736"/>
            <a:ext cx="1673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MERA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788920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Passkey account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331720"/>
            <a:ext cx="2240280" cy="91440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5352" y="2514600"/>
            <a:ext cx="164592" cy="164592"/>
          </a:xfrm>
          <a:prstGeom prst="ellipse">
            <a:avLst/>
          </a:prstGeom>
          <a:solidFill>
            <a:srgbClr val="70B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459736"/>
            <a:ext cx="1673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MONAD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88920"/>
            <a:ext cx="1673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Smart contracts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2331720"/>
            <a:ext cx="2514600" cy="91440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42832" y="2514600"/>
            <a:ext cx="164592" cy="164592"/>
          </a:xfrm>
          <a:prstGeom prst="ellipse">
            <a:avLst/>
          </a:prstGeom>
          <a:solidFill>
            <a:srgbClr val="C4D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459736"/>
            <a:ext cx="1947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AUSD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788920"/>
            <a:ext cx="1947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Agora stablecoin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26080" y="2788920"/>
            <a:ext cx="384048" cy="0"/>
          </a:xfrm>
          <a:prstGeom prst="line">
            <a:avLst/>
          </a:prstGeom>
          <a:ln w="25400">
            <a:solidFill>
              <a:srgbClr val="EC6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3182112" y="2670048"/>
            <a:ext cx="164592" cy="237744"/>
          </a:xfrm>
          <a:prstGeom prst="chevron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5623560" y="2788920"/>
            <a:ext cx="384048" cy="0"/>
          </a:xfrm>
          <a:prstGeom prst="line">
            <a:avLst/>
          </a:prstGeom>
          <a:ln w="25400">
            <a:solidFill>
              <a:srgbClr val="EC6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5879592" y="2670048"/>
            <a:ext cx="164592" cy="237744"/>
          </a:xfrm>
          <a:prstGeom prst="chevron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321040" y="2788920"/>
            <a:ext cx="384048" cy="0"/>
          </a:xfrm>
          <a:prstGeom prst="line">
            <a:avLst/>
          </a:prstGeom>
          <a:ln w="25400">
            <a:solidFill>
              <a:srgbClr val="EC6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hevron 27"/>
          <p:cNvSpPr/>
          <p:nvPr/>
        </p:nvSpPr>
        <p:spPr>
          <a:xfrm>
            <a:off x="8577072" y="2670048"/>
            <a:ext cx="164592" cy="237744"/>
          </a:xfrm>
          <a:prstGeom prst="chevron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3703320"/>
            <a:ext cx="10607040" cy="658368"/>
          </a:xfrm>
          <a:prstGeom prst="roundRect">
            <a:avLst/>
          </a:prstGeom>
          <a:solidFill>
            <a:srgbClr val="27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913632"/>
            <a:ext cx="10149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7F1E7"/>
                </a:solidFill>
                <a:latin typeface="Aptos"/>
              </a:rPr>
              <a:t>Gasless relay  •  Aurora add-money route  •  Envio indexing  •  Alchemy notifications  •  Chainlink CRE planned / simulated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63440"/>
            <a:ext cx="5166360" cy="1078992"/>
          </a:xfrm>
          <a:prstGeom prst="roundRect">
            <a:avLst/>
          </a:prstGeom>
          <a:solidFill>
            <a:srgbClr val="1A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" y="4828032"/>
            <a:ext cx="1417320" cy="292608"/>
          </a:xfrm>
          <a:prstGeom prst="roundRect">
            <a:avLst/>
          </a:prstGeom>
          <a:solidFill>
            <a:srgbClr val="82C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4860036"/>
            <a:ext cx="1307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31314"/>
                </a:solidFill>
                <a:latin typeface="Aptos"/>
              </a:rPr>
              <a:t>MAINNET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120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7F1E7"/>
                </a:solidFill>
                <a:latin typeface="Aptos"/>
              </a:rPr>
              <a:t>Add money, send / receive, and activity are live.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663440"/>
            <a:ext cx="5166360" cy="1078992"/>
          </a:xfrm>
          <a:prstGeom prst="roundRect">
            <a:avLst/>
          </a:prstGeom>
          <a:solidFill>
            <a:srgbClr val="763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4828032"/>
            <a:ext cx="1554480" cy="292608"/>
          </a:xfrm>
          <a:prstGeom prst="roundRect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9944" y="4860036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7F1E7"/>
                </a:solidFill>
                <a:latin typeface="Aptos"/>
              </a:rPr>
              <a:t>TESTNET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212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7F1E7"/>
                </a:solidFill>
                <a:latin typeface="Aptos"/>
              </a:rPr>
              <a:t>Programmable money flows are prototype / practice features.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97103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INR cash-out is a labelled practice step today — no live INR payout. Mainnet AUSD conversions observed: 4.997 USDC → 4.998 AUSD; 0.999 USDC → 0.999 AUSD.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KIN  •  HACKATHON 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6A4F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20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1A9A0"/>
                </a:solidFill>
                <a:latin typeface="Aptos"/>
              </a:rPr>
              <a:t>EARLY EVIDENCE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3112" cy="0"/>
          </a:xfrm>
          <a:prstGeom prst="line">
            <a:avLst/>
          </a:prstGeom>
          <a:ln w="1016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914400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F7F1E7"/>
                </a:solidFill>
                <a:latin typeface="Georgia"/>
              </a:rPr>
              <a:t>Small sample. Real signals. No inflated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1A9A0"/>
                </a:solidFill>
                <a:latin typeface="Aptos"/>
              </a:rPr>
              <a:t>Early-stage validation from documented tester activity and two mainnet add-money conversions.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3337560" cy="182880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EC6A4F"/>
                </a:solidFill>
                <a:latin typeface="Georgia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independent testers
besides founder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331720"/>
            <a:ext cx="3337560" cy="182880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560320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9D7EEB"/>
                </a:solidFill>
                <a:latin typeface="Georgia"/>
              </a:rPr>
              <a:t>5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3375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used a feature beyond
signup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337560" cy="1828800"/>
          </a:xfrm>
          <a:prstGeom prst="roundRect">
            <a:avLst/>
          </a:prstGeom>
          <a:solidFill>
            <a:srgbClr val="1F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560320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C4DC8B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375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mainnet add-money
conversions observed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26280"/>
            <a:ext cx="6766560" cy="1078992"/>
          </a:xfrm>
          <a:prstGeom prst="roundRect">
            <a:avLst/>
          </a:prstGeom>
          <a:solidFill>
            <a:srgbClr val="27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18304"/>
            <a:ext cx="6217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1A9A0"/>
                </a:solidFill>
                <a:latin typeface="Aptos"/>
              </a:rPr>
              <a:t>MAINNET CONVERSIONS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7F1E7"/>
                </a:solidFill>
                <a:latin typeface="Aptos"/>
              </a:rPr>
              <a:t>4.997 USDC → 4.998 AUSD     •     0.999 USDC → 0.999 AUSD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526280"/>
            <a:ext cx="3611880" cy="1078992"/>
          </a:xfrm>
          <a:prstGeom prst="roundRect">
            <a:avLst/>
          </a:prstGeom>
          <a:solidFill>
            <a:srgbClr val="763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470916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F1E7"/>
                </a:solidFill>
                <a:latin typeface="Aptos"/>
              </a:rPr>
              <a:t>WHAT THIS DOESN’T 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5047488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7F1E7"/>
                </a:solidFill>
                <a:latin typeface="Aptos"/>
              </a:rPr>
              <a:t>No retention, scale or product-market fit claim.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943600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Tester window documented in GTM notes: Sep 30–Oct 4. No user quotes or interviews are claimed.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KIN  •  HACKATHON BUILD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6A4F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20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1A9A0"/>
                </a:solidFill>
                <a:latin typeface="Aptos"/>
              </a:rPr>
              <a:t>ROADMAP + ASK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11183112" cy="0"/>
          </a:xfrm>
          <a:prstGeom prst="line">
            <a:avLst/>
          </a:prstGeom>
          <a:ln w="1016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078992"/>
            <a:ext cx="57607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F7F1E7"/>
                </a:solidFill>
                <a:latin typeface="Georgia"/>
              </a:rPr>
              <a:t>Make money
keep its promise.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1A9A0"/>
                </a:solidFill>
                <a:latin typeface="Aptos"/>
              </a:rPr>
              <a:t>Next: prove the full journey, from first deposit to responsible cash-out.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3291839"/>
            <a:ext cx="201168" cy="201168"/>
          </a:xfrm>
          <a:prstGeom prst="ellipse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50392" y="3483863"/>
            <a:ext cx="0" cy="621793"/>
          </a:xfrm>
          <a:prstGeom prst="line">
            <a:avLst/>
          </a:prstGeom>
          <a:ln w="1524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15568" y="324612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EC6A4F"/>
                </a:solidFill>
                <a:latin typeface="Aptos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3227832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Harden core 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520439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Reliability, edge cases, clearer recovery.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4114800"/>
            <a:ext cx="201168" cy="201168"/>
          </a:xfrm>
          <a:prstGeom prst="ellipse">
            <a:avLst/>
          </a:prstGeom>
          <a:solidFill>
            <a:srgbClr val="9D7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50392" y="4306824"/>
            <a:ext cx="0" cy="621792"/>
          </a:xfrm>
          <a:prstGeom prst="line">
            <a:avLst/>
          </a:prstGeom>
          <a:ln w="15240">
            <a:solidFill>
              <a:srgbClr val="4A4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5568" y="406908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D7EEB"/>
                </a:solidFill>
                <a:latin typeface="Aptos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050792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Validate repeat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34340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Measure whether families return to rules-based money.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4937759"/>
            <a:ext cx="201168" cy="201168"/>
          </a:xfrm>
          <a:prstGeom prst="ellipse">
            <a:avLst/>
          </a:prstGeom>
          <a:solidFill>
            <a:srgbClr val="C4D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89204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4DC8B"/>
                </a:solidFill>
                <a:latin typeface="Aptos"/>
              </a:rPr>
              <a:t>UNLOCK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873752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Build compliant INR exit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5166359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Secure licensed payout partner and required approvals.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143000"/>
            <a:ext cx="4892040" cy="4892040"/>
          </a:xfrm>
          <a:prstGeom prst="roundRect">
            <a:avLst/>
          </a:prstGeom>
          <a:solidFill>
            <a:srgbClr val="763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39712" y="1508760"/>
            <a:ext cx="1143000" cy="292608"/>
          </a:xfrm>
          <a:prstGeom prst="roundRect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1540763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7F1E7"/>
                </a:solidFill>
                <a:latin typeface="Aptos"/>
              </a:rPr>
              <a:t>THE 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201168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0">
                <a:solidFill>
                  <a:srgbClr val="F7F1E7"/>
                </a:solidFill>
                <a:latin typeface="Georgia"/>
              </a:rPr>
              <a:t>Help us close
the last mile.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063240"/>
            <a:ext cx="3886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7F1E7"/>
                </a:solidFill>
                <a:latin typeface="Aptos"/>
              </a:rPr>
              <a:t>We’re looking for the right path to a compliant, usable INR payout experience.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0" y="3886200"/>
            <a:ext cx="4069080" cy="0"/>
          </a:xfrm>
          <a:prstGeom prst="line">
            <a:avLst/>
          </a:prstGeom>
          <a:ln w="12700">
            <a:solidFill>
              <a:srgbClr val="A15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0" y="4160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F1E7"/>
                </a:solidFill>
                <a:latin typeface="Aptos"/>
              </a:rPr>
              <a:t>CONNECT US WITH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526280"/>
            <a:ext cx="3977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1E7"/>
                </a:solidFill>
                <a:latin typeface="Aptos"/>
              </a:rPr>
              <a:t>A licensed INR payout partner
and the relevant mainnet approvals.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349240"/>
            <a:ext cx="1965960" cy="438912"/>
          </a:xfrm>
          <a:prstGeom prst="roundRect">
            <a:avLst/>
          </a:prstGeom>
          <a:solidFill>
            <a:srgbClr val="EC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7728" y="5468112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F1E7"/>
                </a:solidFill>
                <a:latin typeface="Aptos"/>
              </a:rPr>
              <a:t>getkin.space  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24535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1A9A0"/>
                </a:solidFill>
                <a:latin typeface="Aptos"/>
              </a:rPr>
              <a:t>KIN  •  SOLO FOUNDER  •  HACKATHON PROTOTYPE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37960"/>
            <a:ext cx="7772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1A9A0"/>
                </a:solidFill>
                <a:latin typeface="Aptos"/>
              </a:rPr>
              <a:t>KIN  •  HACKATHON 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 — Money That Behaves</dc:title>
  <dc:subject>Two-minute hackathon pitch deck</dc:subject>
  <dc:creator>Kin</dc:creator>
  <cp:keywords>Kin, programmable money, Monad, family finance, hackathon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