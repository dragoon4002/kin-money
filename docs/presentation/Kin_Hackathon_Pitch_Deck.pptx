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868680"/>
            <a:ext cx="3611880" cy="516636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66760" y="1353312"/>
            <a:ext cx="2148840" cy="2148840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33688" y="1993392"/>
            <a:ext cx="201168" cy="201168"/>
          </a:xfrm>
          <a:prstGeom prst="ellipse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10928" y="1993392"/>
            <a:ext cx="201168" cy="201168"/>
          </a:xfrm>
          <a:prstGeom prst="ellipse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9144000" y="2267712"/>
            <a:ext cx="658368" cy="347472"/>
          </a:xfrm>
          <a:prstGeom prst="arc">
            <a:avLst/>
          </a:prstGeom>
          <a:noFill/>
          <a:ln w="33020">
            <a:solidFill>
              <a:srgbClr val="131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384048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1E7"/>
                </a:solidFill>
                <a:latin typeface="Aptos"/>
              </a:rPr>
              <a:t>MONEY, WITH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2752" y="4261104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B1A9A0"/>
                </a:solidFill>
                <a:latin typeface="Aptos"/>
              </a:rPr>
              <a:t>Rules that keep working
after you press send.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58368"/>
            <a:ext cx="475488" cy="47548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22376"/>
            <a:ext cx="4754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7F1E7"/>
                </a:solidFill>
                <a:latin typeface="Georgia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713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7F1E7"/>
                </a:solidFill>
                <a:latin typeface="Georgia"/>
              </a:rPr>
              <a:t>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00200"/>
            <a:ext cx="1417320" cy="292608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63220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1A9A0"/>
                </a:solidFill>
                <a:latin typeface="Aptos"/>
              </a:rPr>
              <a:t>FAMILY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57400"/>
            <a:ext cx="66294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7F1E7"/>
                </a:solidFill>
                <a:latin typeface="Georgia"/>
              </a:rPr>
              <a:t>Money that
behaves.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576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1A9A0"/>
                </a:solidFill>
                <a:latin typeface="Aptos"/>
              </a:rPr>
              <a:t>A mobile-first money app for people who care where money goes — and what it should do next.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C6A4F"/>
                </a:solidFill>
                <a:latin typeface="Aptos"/>
              </a:rPr>
              <a:t>getkin.space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4476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SOLO FOUNDER  •  HACKATHON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2-MINUTE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7F1E7"/>
                </a:solidFill>
                <a:latin typeface="Georgia"/>
              </a:rPr>
              <a:t>Sending money is easy. Trusting what happens next isn’t.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Families need more than a transfer: they need money to arrive with intent.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657600" cy="32461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3347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EC6A4F"/>
                </a:solidFill>
                <a:latin typeface="Georgia"/>
              </a:rPr>
              <a:t>$129B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1E7"/>
                </a:solidFill>
                <a:latin typeface="Aptos"/>
              </a:rPr>
              <a:t>India’s estimated remittance inflows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1A9A0"/>
                </a:solidFill>
                <a:latin typeface="Aptos"/>
              </a:rPr>
              <a:t>A huge flow of money — often supporting everyday family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66360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1A9A0"/>
                </a:solidFill>
                <a:latin typeface="Aptos"/>
              </a:rPr>
              <a:t>WORLD BANK • 2024 ESTIMATE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331720"/>
            <a:ext cx="3200400" cy="32461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651760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0" i="0">
                <a:solidFill>
                  <a:srgbClr val="EC6A4F"/>
                </a:solidFill>
                <a:latin typeface="Georgia"/>
              </a:rPr>
              <a:t>6.36%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429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7F1E7"/>
                </a:solidFill>
                <a:latin typeface="Aptos"/>
              </a:rPr>
              <a:t>Global average cost to send remittances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2519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1A9A0"/>
                </a:solidFill>
                <a:latin typeface="Aptos"/>
              </a:rPr>
              <a:t>The World Bank’s latest surfaced benchmark: Q3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516636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1A9A0"/>
                </a:solidFill>
                <a:latin typeface="Aptos"/>
              </a:rPr>
              <a:t>WORLD BANK • RPW Q3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331720"/>
            <a:ext cx="3566160" cy="3246120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6791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7F1E7"/>
                </a:solidFill>
                <a:latin typeface="Georgia"/>
              </a:rPr>
              <a:t>The missing layer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429000"/>
            <a:ext cx="155448" cy="15544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338328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Money lands — but its purpose can get lost.</a:t>
            </a:r>
          </a:p>
        </p:txBody>
      </p:sp>
      <p:sp>
        <p:nvSpPr>
          <p:cNvPr id="21" name="Oval 20"/>
          <p:cNvSpPr/>
          <p:nvPr/>
        </p:nvSpPr>
        <p:spPr>
          <a:xfrm>
            <a:off x="8321040" y="4023360"/>
            <a:ext cx="155448" cy="15544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397764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Parents can’t easily set rules after sending.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4617720"/>
            <a:ext cx="155448" cy="15544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45720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Families stitch together transfers, chats and reminders.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870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Context, not a Kin performance claim: global average cost is still above the UN SDG target of 3%.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SOURCES: WORLD BANK, REMITTANCES AND MIGRATION (2024 ESTIMATE); REMITTANCE PRICES WORLDWIDE, Q3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THE IDEA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Kin turns a payment into a 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Send money with rules attached — and make those rules feel simple.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4114800" cy="315468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633472"/>
            <a:ext cx="1371600" cy="292608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665476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1A9A0"/>
                </a:solidFill>
                <a:latin typeface="Apto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B1A9A0"/>
                </a:solidFill>
                <a:latin typeface="Georgia"/>
              </a:rPr>
              <a:t>“Here’s the money.”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3886200"/>
            <a:ext cx="3364992" cy="0"/>
          </a:xfrm>
          <a:prstGeom prst="line">
            <a:avLst/>
          </a:prstGeom>
          <a:ln w="1270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41605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1A9A0"/>
                </a:solidFill>
                <a:latin typeface="Aptos"/>
              </a:rPr>
              <a:t>The sender loses visibility once it lands.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331720"/>
            <a:ext cx="6355080" cy="315468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8112" y="2633472"/>
            <a:ext cx="1280160" cy="29260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2665476"/>
            <a:ext cx="11704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WITH KIN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312724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F7F1E7"/>
                </a:solidFill>
                <a:latin typeface="Georgia"/>
              </a:rPr>
              <a:t>“Here’s what this money is for.”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8112" y="4005072"/>
            <a:ext cx="1664208" cy="960120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6128" y="4160520"/>
            <a:ext cx="146304" cy="146304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4370832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7F1E7"/>
                </a:solidFill>
                <a:latin typeface="Aptos"/>
              </a:rPr>
              <a:t>ALLOWANCE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461772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Release over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4" y="4005072"/>
            <a:ext cx="1664208" cy="960120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0" y="4160520"/>
            <a:ext cx="146304" cy="146304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4370832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7F1E7"/>
                </a:solidFill>
                <a:latin typeface="Aptos"/>
              </a:rPr>
              <a:t>FAMILY 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61772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Pool for a shared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72016" y="4005072"/>
            <a:ext cx="1664208" cy="960120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00032" y="4160520"/>
            <a:ext cx="146304" cy="146304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4370832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7F1E7"/>
                </a:solidFill>
                <a:latin typeface="Aptos"/>
              </a:rPr>
              <a:t>SAVINGS CIRCLE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61772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Save together by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704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6A4F"/>
                </a:solidFill>
                <a:latin typeface="Aptos"/>
              </a:rPr>
              <a:t>Positioning: programmable family money — not another generic wallet.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PRODUCT EXPERIENCE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Crypto complexity stays backstage.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A familiar flow: sign in, choose a person, see a clear receipt.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2880360" cy="3749039"/>
          </a:xfrm>
          <a:prstGeom prst="roundRect">
            <a:avLst/>
          </a:prstGeom>
          <a:solidFill>
            <a:srgbClr val="272526"/>
          </a:solidFill>
          <a:ln w="12700">
            <a:solidFill>
              <a:srgbClr val="4A4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64792" y="2221992"/>
            <a:ext cx="1078992" cy="64008"/>
          </a:xfrm>
          <a:prstGeom prst="roundRect">
            <a:avLst/>
          </a:prstGeom>
          <a:solidFill>
            <a:srgbClr val="4A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5146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01  SIGN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2880360" cy="3749039"/>
          </a:xfrm>
          <a:prstGeom prst="roundRect">
            <a:avLst/>
          </a:prstGeom>
          <a:solidFill>
            <a:srgbClr val="272526"/>
          </a:solidFill>
          <a:ln w="12700">
            <a:solidFill>
              <a:srgbClr val="4A4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30952" y="2221992"/>
            <a:ext cx="1078992" cy="64008"/>
          </a:xfrm>
          <a:prstGeom prst="roundRect">
            <a:avLst/>
          </a:prstGeom>
          <a:solidFill>
            <a:srgbClr val="4A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5146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02  SEND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03120"/>
            <a:ext cx="2880360" cy="3749039"/>
          </a:xfrm>
          <a:prstGeom prst="roundRect">
            <a:avLst/>
          </a:prstGeom>
          <a:solidFill>
            <a:srgbClr val="272526"/>
          </a:solidFill>
          <a:ln w="12700">
            <a:solidFill>
              <a:srgbClr val="4A4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97112" y="2221992"/>
            <a:ext cx="1078992" cy="64008"/>
          </a:xfrm>
          <a:prstGeom prst="roundRect">
            <a:avLst/>
          </a:prstGeom>
          <a:solidFill>
            <a:srgbClr val="4A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5146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03  RECEIPT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29443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F7F1E7"/>
                </a:solidFill>
                <a:latin typeface="Georgia"/>
              </a:rPr>
              <a:t>Welcome home.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5478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1A9A0"/>
                </a:solidFill>
                <a:latin typeface="Aptos"/>
              </a:rPr>
              <a:t>Your money, on your terms.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" y="4224528"/>
            <a:ext cx="2331720" cy="457200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Continue with passkey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50017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No seed phrase to manage.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9260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F7F1E7"/>
                </a:solidFill>
                <a:latin typeface="Georgia"/>
              </a:rPr>
              <a:t>Send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3474720"/>
            <a:ext cx="2331720" cy="566928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363931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7F1E7"/>
                </a:solidFill>
                <a:latin typeface="Aptos"/>
              </a:rPr>
              <a:t>To  @maya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0872" y="4187952"/>
            <a:ext cx="2331720" cy="566928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352544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7F1E7"/>
                </a:solidFill>
                <a:latin typeface="Aptos"/>
              </a:rPr>
              <a:t>Amount   $25.00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90872" y="4956048"/>
            <a:ext cx="2331720" cy="438912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507492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Review transfer</a:t>
            </a:r>
          </a:p>
        </p:txBody>
      </p:sp>
      <p:sp>
        <p:nvSpPr>
          <p:cNvPr id="28" name="Oval 27"/>
          <p:cNvSpPr/>
          <p:nvPr/>
        </p:nvSpPr>
        <p:spPr>
          <a:xfrm>
            <a:off x="9070848" y="2907792"/>
            <a:ext cx="512064" cy="512064"/>
          </a:xfrm>
          <a:prstGeom prst="ellipse">
            <a:avLst/>
          </a:prstGeom>
          <a:solidFill>
            <a:srgbClr val="82C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3008376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31314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61188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7F1E7"/>
                </a:solidFill>
                <a:latin typeface="Georgia"/>
              </a:rPr>
              <a:t>$25.00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050791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82C297"/>
                </a:solidFill>
                <a:latin typeface="Aptos"/>
              </a:rPr>
              <a:t>Delivered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30768" y="4498848"/>
            <a:ext cx="2039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0" y="468172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To: @maya
Network: Monad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03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Receipt ID  •••  8F2A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071616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Illustrative product mockups, not screenshots. Passkey, gasless UX and receipt concepts reflect Kin’s design direction.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WHAT MONEY CAN 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A transfer is one moment. A rule can last for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Programmable features are the product’s edge — shown in the testnet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2350008"/>
            <a:ext cx="310896" cy="310896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048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317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Live allowance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80720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Release money on a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48840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8" y="2350008"/>
            <a:ext cx="310896" cy="310896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4048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3317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Emergency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80720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Unlock funds when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48840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22208" y="2350008"/>
            <a:ext cx="310896" cy="310896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4048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3317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Savings circle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80720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Contribute toward a shared goal.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7" y="4178807"/>
            <a:ext cx="310896" cy="310896"/>
          </a:xfrm>
          <a:prstGeom prst="ellipse">
            <a:avLst/>
          </a:prstGeom>
          <a:solidFill>
            <a:srgbClr val="70B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2336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1605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Family 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636007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Pool money for a specific purpose.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977639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81728" y="4178807"/>
            <a:ext cx="310896" cy="310896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42336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1605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Earmarked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636007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Keep rent or bills tied to intent.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977639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22208" y="4178807"/>
            <a:ext cx="310896" cy="310896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42336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41605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Milestone escrow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4636007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Release when agreed steps are met.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97880"/>
            <a:ext cx="2148840" cy="292608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929884"/>
            <a:ext cx="20391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TESTNET / PRACTICE MONEY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590702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Other planned or prototype flows include AutoPay, dated gifts and savings jars.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UNDER THE HOOD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Invisible rails. Verifiable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Kin combines account abstraction and smart contracts with a familiar consumer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24028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514600"/>
            <a:ext cx="164592" cy="164592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59736"/>
            <a:ext cx="1673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KIN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Next.js PWA / 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31720"/>
            <a:ext cx="224028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2514600"/>
            <a:ext cx="164592" cy="164592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459736"/>
            <a:ext cx="1673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Passkey account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331720"/>
            <a:ext cx="224028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5352" y="2514600"/>
            <a:ext cx="164592" cy="164592"/>
          </a:xfrm>
          <a:prstGeom prst="ellipse">
            <a:avLst/>
          </a:prstGeom>
          <a:solidFill>
            <a:srgbClr val="70B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59736"/>
            <a:ext cx="1673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MONAD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88920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Smart 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331720"/>
            <a:ext cx="251460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42832" y="2514600"/>
            <a:ext cx="164592" cy="164592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459736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AUSD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8892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Agora stablecoin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2788920"/>
            <a:ext cx="384048" cy="0"/>
          </a:xfrm>
          <a:prstGeom prst="line">
            <a:avLst/>
          </a:prstGeom>
          <a:ln w="25400">
            <a:solidFill>
              <a:srgbClr val="EC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3182112" y="2670048"/>
            <a:ext cx="164592" cy="237744"/>
          </a:xfrm>
          <a:prstGeom prst="chevron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623560" y="2788920"/>
            <a:ext cx="384048" cy="0"/>
          </a:xfrm>
          <a:prstGeom prst="line">
            <a:avLst/>
          </a:prstGeom>
          <a:ln w="25400">
            <a:solidFill>
              <a:srgbClr val="EC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5879592" y="2670048"/>
            <a:ext cx="164592" cy="237744"/>
          </a:xfrm>
          <a:prstGeom prst="chevron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788920"/>
            <a:ext cx="384048" cy="0"/>
          </a:xfrm>
          <a:prstGeom prst="line">
            <a:avLst/>
          </a:prstGeom>
          <a:ln w="25400">
            <a:solidFill>
              <a:srgbClr val="EC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8577072" y="2670048"/>
            <a:ext cx="164592" cy="237744"/>
          </a:xfrm>
          <a:prstGeom prst="chevron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3703320"/>
            <a:ext cx="10607040" cy="658368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13632"/>
            <a:ext cx="10149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7F1E7"/>
                </a:solidFill>
                <a:latin typeface="Aptos"/>
              </a:rPr>
              <a:t>Gasless relay  •  Aurora add-money route  •  Envio indexing  •  Alchemy notifications  •  Chainlink CRE planned / simulated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63440"/>
            <a:ext cx="5166360" cy="1078992"/>
          </a:xfrm>
          <a:prstGeom prst="roundRect">
            <a:avLst/>
          </a:prstGeom>
          <a:solidFill>
            <a:srgbClr val="1A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4828032"/>
            <a:ext cx="1417320" cy="292608"/>
          </a:xfrm>
          <a:prstGeom prst="roundRect">
            <a:avLst/>
          </a:prstGeom>
          <a:solidFill>
            <a:srgbClr val="82C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860036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31314"/>
                </a:solidFill>
                <a:latin typeface="Aptos"/>
              </a:rPr>
              <a:t>MAINNET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12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Add money, send / receive, and activity are live.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663440"/>
            <a:ext cx="5166360" cy="1078992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4828032"/>
            <a:ext cx="1554480" cy="29260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8600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TESTNET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Programmable money flows are prototype / practice features.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97103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INR cash-out is a labelled practice step today — no live INR payout. Mainnet AUSD conversions observed: 4.997 USDC → 4.998 AUSD; 0.999 USDC → 0.999 AUSD.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EARLY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Small sample. Real signals. No inflated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Early-stage validation from documented tester activity and two mainnet add-money conversions.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337560" cy="18288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EC6A4F"/>
                </a:solidFill>
                <a:latin typeface="Georgia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independent testers
besides founder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337560" cy="18288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5603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9D7EEB"/>
                </a:solidFill>
                <a:latin typeface="Georgia"/>
              </a:rPr>
              <a:t>5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3375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used a feature beyond
signup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37560" cy="18288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603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C4DC8B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375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mainnet add-money
conversions observed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6766560" cy="1078992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18304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MAINNET CONVERSIONS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1E7"/>
                </a:solidFill>
                <a:latin typeface="Aptos"/>
              </a:rPr>
              <a:t>4.997 USDC → 4.998 AUSD     •     0.999 USDC → 0.999 AUSD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526280"/>
            <a:ext cx="3611880" cy="1078992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7091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F1E7"/>
                </a:solidFill>
                <a:latin typeface="Aptos"/>
              </a:rPr>
              <a:t>WHAT THIS DOESN’T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04748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7F1E7"/>
                </a:solidFill>
                <a:latin typeface="Aptos"/>
              </a:rPr>
              <a:t>No retention, scale or product-market fit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4360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Tester window documented in GTM notes: Sep 30–Oct 4. No user quotes or interviews are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ROADMAP + ASK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078992"/>
            <a:ext cx="57607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F7F1E7"/>
                </a:solidFill>
                <a:latin typeface="Georgia"/>
              </a:rPr>
              <a:t>Make money
keep its 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1A9A0"/>
                </a:solidFill>
                <a:latin typeface="Aptos"/>
              </a:rPr>
              <a:t>Next: prove the full journey, from first deposit to responsible cash-out.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3291839"/>
            <a:ext cx="201168" cy="20116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50392" y="3483863"/>
            <a:ext cx="0" cy="621793"/>
          </a:xfrm>
          <a:prstGeom prst="line">
            <a:avLst/>
          </a:prstGeom>
          <a:ln w="1524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15568" y="32461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EC6A4F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22783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Harden core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520439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Reliability, edge cases, clearer recovery.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114800"/>
            <a:ext cx="201168" cy="201168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50392" y="4306824"/>
            <a:ext cx="0" cy="621792"/>
          </a:xfrm>
          <a:prstGeom prst="line">
            <a:avLst/>
          </a:prstGeom>
          <a:ln w="1524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5568" y="406908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D7EEB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05079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Validate repeat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3434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Measure whether families return to rules-based money.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4937759"/>
            <a:ext cx="201168" cy="201168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89204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DC8B"/>
                </a:solidFill>
                <a:latin typeface="Aptos"/>
              </a:rPr>
              <a:t>UNLOCK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87375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Build compliant INR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166359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Secure licensed payout partner and required approvals.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143000"/>
            <a:ext cx="4892040" cy="4892040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9712" y="1508760"/>
            <a:ext cx="1143000" cy="29260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1540763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THE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01168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7F1E7"/>
                </a:solidFill>
                <a:latin typeface="Georgia"/>
              </a:rPr>
              <a:t>Help us close
the last mile.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063240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7F1E7"/>
                </a:solidFill>
                <a:latin typeface="Aptos"/>
              </a:rPr>
              <a:t>We’re looking for the right path to a compliant, usable INR payout experience.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3886200"/>
            <a:ext cx="4069080" cy="0"/>
          </a:xfrm>
          <a:prstGeom prst="line">
            <a:avLst/>
          </a:prstGeom>
          <a:ln w="12700">
            <a:solidFill>
              <a:srgbClr val="A15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0" y="4160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F1E7"/>
                </a:solidFill>
                <a:latin typeface="Aptos"/>
              </a:rPr>
              <a:t>CONNECT US WITH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26280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A licensed INR payout partner
and the relevant mainnet approvals.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349240"/>
            <a:ext cx="1965960" cy="438912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546811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getkin.space  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453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KIN  •  SOLO FOUNDER  •  HACKATHON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 — Money That Behaves</dc:title>
  <dc:subject>Two-minute hackathon pitch deck</dc:subject>
  <dc:creator>Kin</dc:creator>
  <cp:keywords>Kin, programmable money, Monad, family finance,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